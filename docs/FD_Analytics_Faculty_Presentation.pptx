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FD E-Commerce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Interactive intelligence for sales, customer preferences, marketing ROI and strategic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2240280"/>
            <a:ext cx="10972800" cy="3337560"/>
          </a:xfrm>
          <a:prstGeom prst="roundRect">
            <a:avLst/>
          </a:prstGeom>
          <a:solidFill>
            <a:srgbClr val="16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9875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DCAF69"/>
                </a:solidFill>
                <a:latin typeface="Aptos"/>
              </a:defRPr>
            </a:pPr>
            <a:r>
              <a:t>FROM SCATTERED TRANSACTIONS</a:t>
            </a:r>
          </a:p>
          <a:p>
            <a:pPr>
              <a:spcAft>
                <a:spcPts val="800"/>
              </a:spcAft>
              <a:defRPr sz="2900" b="1">
                <a:solidFill>
                  <a:srgbClr val="DCAF69"/>
                </a:solidFill>
                <a:latin typeface="Aptos"/>
              </a:defRPr>
            </a:pPr>
            <a:r>
              <a:t>TO MEASURABLE BUSINESS DECISIONS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4F9"/>
                </a:solidFill>
                <a:latin typeface="Aptos"/>
              </a:defRPr>
            </a:pPr>
            <a:r>
              <a:t>Python  ·  MongoDB  ·  Streamlit  ·  Pandas  ·  Plotly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5093208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Prepared by Jagjot Singh Passi | BCA | Course Instructor: Ms. Sarbjeet Kaur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GOAL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What business problem are we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Three official academic requirements drive the entire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11680"/>
            <a:ext cx="10927080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1671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12264"/>
            <a:ext cx="10158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Sales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96312"/>
            <a:ext cx="10158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Find seasonal movements, high-revenue products and regions.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163824"/>
            <a:ext cx="10927080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3192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64408"/>
            <a:ext cx="10158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Customer preferences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648456"/>
            <a:ext cx="10158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Measure repeat buying, customer segments and product mix.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315968"/>
            <a:ext cx="10927080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447141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416552"/>
            <a:ext cx="101589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Marketing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800600"/>
            <a:ext cx="10158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Link campaign spend with attributed orders and report ROAS / ROI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Implementation stack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Matches the Phase 1 evaluated stack; offline demo fallback is always labeled.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1078992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CAF69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5740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Authorized CSV/Excel exports or reproducible simulation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15768"/>
            <a:ext cx="1078992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CAF69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3464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Six linked tables, arithmetic and referential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93008"/>
            <a:ext cx="1078992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CAF69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61188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MongoDB collections · SQLite local demo 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70248"/>
            <a:ext cx="1078992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CAF69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389120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Pandas KPI formulas, RFM, cohorts and attribution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047488"/>
            <a:ext cx="1078992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66359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CAF69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166359"/>
            <a:ext cx="7772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Streamlit controls + Plotly interactive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Six related collections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Customer → order → order item → product; campaign → attributed delivered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2267712" cy="1078992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2212848"/>
            <a:ext cx="19933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62432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CBECE"/>
                </a:solidFill>
                <a:latin typeface="Aptos"/>
              </a:defRPr>
            </a:pPr>
            <a:r>
              <a:t>Sign-up, region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057400"/>
            <a:ext cx="2267712" cy="1078992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2212848"/>
            <a:ext cx="19933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2" y="262432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CBECE"/>
                </a:solidFill>
                <a:latin typeface="Aptos"/>
              </a:defRPr>
            </a:pPr>
            <a:r>
              <a:t>Delivery, payment, amount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057400"/>
            <a:ext cx="2267712" cy="1078992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2212848"/>
            <a:ext cx="19933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ORDER ITEMS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62432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CBECE"/>
                </a:solidFill>
                <a:latin typeface="Aptos"/>
              </a:defRPr>
            </a:pPr>
            <a:r>
              <a:t>Product, quantity, price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057400"/>
            <a:ext cx="2267712" cy="1078992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2" y="2212848"/>
            <a:ext cx="19933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62432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CBECE"/>
                </a:solidFill>
                <a:latin typeface="Aptos"/>
              </a:defRPr>
            </a:pPr>
            <a:r>
              <a:t>SKU, category, cost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931920"/>
            <a:ext cx="2267712" cy="1078992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85032" y="4087368"/>
            <a:ext cx="19933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CAMPAIGNS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449884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CBECE"/>
                </a:solidFill>
                <a:latin typeface="Aptos"/>
              </a:defRPr>
            </a:pPr>
            <a:r>
              <a:t>Spend, clicks, impressions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2267712" cy="1078992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4087368"/>
            <a:ext cx="19933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CONVERSIONS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449884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ACBECE"/>
                </a:solidFill>
                <a:latin typeface="Aptos"/>
              </a:defRPr>
            </a:pPr>
            <a:r>
              <a:t>Order attribution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62656" y="2615184"/>
            <a:ext cx="512063" cy="25603"/>
          </a:xfrm>
          <a:prstGeom prst="rect">
            <a:avLst/>
          </a:prstGeom>
          <a:solidFill>
            <a:srgbClr val="64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33872" y="2615184"/>
            <a:ext cx="512064" cy="25603"/>
          </a:xfrm>
          <a:prstGeom prst="rect">
            <a:avLst/>
          </a:prstGeom>
          <a:solidFill>
            <a:srgbClr val="64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14232" y="2615184"/>
            <a:ext cx="521208" cy="25603"/>
          </a:xfrm>
          <a:prstGeom prst="rect">
            <a:avLst/>
          </a:prstGeom>
          <a:solidFill>
            <a:srgbClr val="64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15584" y="4489704"/>
            <a:ext cx="566928" cy="25603"/>
          </a:xfrm>
          <a:prstGeom prst="rect">
            <a:avLst/>
          </a:prstGeom>
          <a:solidFill>
            <a:srgbClr val="64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760720"/>
            <a:ext cx="10927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ACBECE"/>
                </a:solidFill>
                <a:latin typeface="Aptos"/>
              </a:defRPr>
            </a:pPr>
            <a:r>
              <a:t>Validated unique IDs, foreign keys, reconciliation and single-touch delivered-order attribution.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DYNAMIC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Delivered revenue changes with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Date, region and category selection recalculate qualifying line-level revenue.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47088"/>
            <a:ext cx="3383280" cy="114300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CAF69"/>
                </a:solidFill>
                <a:latin typeface="Aptos"/>
              </a:defRPr>
            </a:pPr>
            <a:r>
              <a:t>₹1.08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Synthetic realized sales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847088"/>
            <a:ext cx="3383280" cy="114300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2011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CAF69"/>
                </a:solidFill>
                <a:latin typeface="Aptos"/>
              </a:defRPr>
            </a:pPr>
            <a:r>
              <a:t>4,399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5420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Delivered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47088"/>
            <a:ext cx="3383280" cy="114300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1089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CAF69"/>
                </a:solidFill>
                <a:latin typeface="Aptos"/>
              </a:defRPr>
            </a:pPr>
            <a:r>
              <a:t>₹2,444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Average selected order</a:t>
            </a:r>
          </a:p>
        </p:txBody>
      </p:sp>
      <p:pic>
        <p:nvPicPr>
          <p:cNvPr id="18" name="Picture 17" descr="fd_sales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36392"/>
            <a:ext cx="103327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From transactions to 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RFM + cohort retention + exploratory clustering are different lenses on buying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48256"/>
            <a:ext cx="10789920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48840"/>
            <a:ext cx="10021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RECENCY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32888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Days since last delivered purchase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127248"/>
            <a:ext cx="10789920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8269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227832"/>
            <a:ext cx="10021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611880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Number of delivered purchases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206240"/>
            <a:ext cx="10789920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3616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06824"/>
            <a:ext cx="10021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MONETARY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690872"/>
            <a:ext cx="10021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Sum of delivered spending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486400"/>
            <a:ext cx="4663440" cy="114300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650992"/>
            <a:ext cx="43891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CAF69"/>
                </a:solidFill>
                <a:latin typeface="Aptos"/>
              </a:defRPr>
            </a:pPr>
            <a:r>
              <a:t>891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618134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Customers with delivered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5486400"/>
            <a:ext cx="4983480" cy="114300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5650992"/>
            <a:ext cx="4709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CAF69"/>
                </a:solidFill>
                <a:latin typeface="Aptos"/>
              </a:defRPr>
            </a:pPr>
            <a:r>
              <a:t>77.4%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6181344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Repeat-buyer 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CAMPAIGN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Attribution &amp; marketing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Reported national marketing spend is prorated for partial campaign date ranges.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3337560" cy="114300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063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CAF69"/>
                </a:solidFill>
                <a:latin typeface="Aptos"/>
              </a:defRPr>
            </a:pPr>
            <a:r>
              <a:t>₹6.39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Advertising spend · synthetic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38528"/>
            <a:ext cx="3337560" cy="114300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63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CAF69"/>
                </a:solidFill>
                <a:latin typeface="Aptos"/>
              </a:defRPr>
            </a:pPr>
            <a:r>
              <a:t>₹25.25 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33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Attributed sales · synthetic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38528"/>
            <a:ext cx="3337560" cy="114300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03120"/>
            <a:ext cx="30632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DCAF69"/>
                </a:solidFill>
                <a:latin typeface="Aptos"/>
              </a:defRPr>
            </a:pPr>
            <a:r>
              <a:t>3.96×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3347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Single-touch ROAS</a:t>
            </a:r>
          </a:p>
        </p:txBody>
      </p:sp>
      <p:pic>
        <p:nvPicPr>
          <p:cNvPr id="18" name="Picture 17" descr="fd_marketing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91840"/>
            <a:ext cx="1019556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Know what the formulas mean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Never confuse attributed sales with verified incremental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47088"/>
            <a:ext cx="1083564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3852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AF69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19385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Σ (delivered item quantity × sale price)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70048"/>
            <a:ext cx="1083564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76148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AF69"/>
                </a:solidFill>
                <a:latin typeface="Aptos"/>
              </a:defRPr>
            </a:pPr>
            <a:r>
              <a:t>ROAS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7614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Attributed delivered-order revenue ÷ campaign spend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93008"/>
            <a:ext cx="1083564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58444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AF69"/>
                </a:solidFill>
                <a:latin typeface="Aptos"/>
              </a:defRPr>
            </a:pPr>
            <a:r>
              <a:t>CPA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2072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Campaign spend ÷ attributed delivered orders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15968"/>
            <a:ext cx="1083564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40740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AF69"/>
                </a:solidFill>
                <a:latin typeface="Aptos"/>
              </a:defRPr>
            </a:pPr>
            <a:r>
              <a:t>ROI proxy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44074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(Attributed revenue − estimated product COGS − spend) ÷ spend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38928"/>
            <a:ext cx="10835640" cy="658368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230368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CAF69"/>
                </a:solidFill>
                <a:latin typeface="Aptos"/>
              </a:defRPr>
            </a:pPr>
            <a:r>
              <a:t>RFM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62072" y="52303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Recency · Frequency · Monetary based on delivered-order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QUALITY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Dynamic imports, validation and audit trail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The application rejects broken datasets before activating their records.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28800"/>
            <a:ext cx="10936224" cy="694944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975104"/>
            <a:ext cx="18928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956816"/>
            <a:ext cx="8229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One workbook (six sheets) or six CSV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660904"/>
            <a:ext cx="10936224" cy="694944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807208"/>
            <a:ext cx="18928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788920"/>
            <a:ext cx="8229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Unique IDs, balanced totals, valid dates and status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493008"/>
            <a:ext cx="10936224" cy="694944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3639312"/>
            <a:ext cx="18928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621024"/>
            <a:ext cx="8229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MongoDB batch switch or SQLite transactional replacement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325112"/>
            <a:ext cx="10936224" cy="694944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" y="4471416"/>
            <a:ext cx="18928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453128"/>
            <a:ext cx="8229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Dynamic dashboards, CSV/Excel exports and backup ZIP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5157216"/>
            <a:ext cx="10936224" cy="694944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5303520"/>
            <a:ext cx="18928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DCAF69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5285232"/>
            <a:ext cx="8229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0F4F9"/>
                </a:solidFill>
                <a:latin typeface="Aptos"/>
              </a:defRPr>
            </a:pPr>
            <a:r>
              <a:t>Import origin + timestamp + administrator action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10 automated checks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Tests were executed for the analytics core and SQLite database persistence.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10817352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07568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020824"/>
            <a:ext cx="10049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Sales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404872"/>
            <a:ext cx="10049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Reconciliation, cancellation exclusion, category sums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24912"/>
            <a:ext cx="10817352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28803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825496"/>
            <a:ext cx="10049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Marketing logic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209544"/>
            <a:ext cx="10049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Single-touch aggregation, spend prorating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9584"/>
            <a:ext cx="10817352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36850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30168"/>
            <a:ext cx="10049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Customer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014216"/>
            <a:ext cx="10049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RFM labeling and cohort month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34256"/>
            <a:ext cx="10817352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489704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434840"/>
            <a:ext cx="10049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4818888"/>
            <a:ext cx="10049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Reject incorrect orders and attribution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138928"/>
            <a:ext cx="10817352" cy="96012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5294376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5239512"/>
            <a:ext cx="10049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0F4F9"/>
                </a:solidFill>
                <a:latin typeface="Aptos"/>
              </a:defRPr>
            </a:pPr>
            <a:r>
              <a:t>Persistence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623560"/>
            <a:ext cx="10049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ACBECE"/>
                </a:solidFill>
                <a:latin typeface="Aptos"/>
              </a:defRPr>
            </a:pPr>
            <a:r>
              <a:t>SQLite roundtrip, metadata and failed-validation safety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DATA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Real-world data: what is available and what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A simulation can demonstrate software, but it must never be presented as measured business activity.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5257800" cy="315468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303520" cy="3154680"/>
          </a:xfrm>
          <a:prstGeom prst="round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DCAF69"/>
                </a:solidFill>
                <a:latin typeface="Aptos"/>
              </a:defRPr>
            </a:pPr>
            <a:r>
              <a:t>PROVIDED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0F4F9"/>
                </a:solidFill>
                <a:latin typeface="Aptos"/>
              </a:defRPr>
            </a:pPr>
            <a:r>
              <a:t>Reproducible, internally consistent synthetic records, realistic prices and seasonality, documented provenance.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64C3B5"/>
                </a:solidFill>
                <a:latin typeface="Aptos"/>
              </a:defRPr>
            </a:pPr>
            <a:r>
              <a:t>NEXT DATA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61488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0F4F9"/>
                </a:solidFill>
                <a:latin typeface="Aptos"/>
              </a:defRPr>
            </a:pPr>
            <a:r>
              <a:t>Permissioned store exports, anonymized customers and authentic ad campaign logs with order-level attribution.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DCAF69"/>
                </a:solidFill>
                <a:latin typeface="Aptos"/>
              </a:defRPr>
            </a:pPr>
            <a:r>
              <a:t>No actual FD-store transactions or live Shopify/webhook integration are claimed.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9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274320"/>
            <a:ext cx="82296" cy="393192"/>
          </a:xfrm>
          <a:prstGeom prst="rect">
            <a:avLst/>
          </a:prstGeom>
          <a:solidFill>
            <a:srgbClr val="DCA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CAF69"/>
                </a:solidFill>
                <a:latin typeface="Aptos"/>
              </a:defRPr>
            </a:pPr>
            <a:r>
              <a:t>FD / INTELLIGENCE    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0F4F9"/>
                </a:solidFill>
                <a:latin typeface="Aptos"/>
              </a:defRPr>
            </a:pPr>
            <a:r>
              <a:t>A tested business intelligence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137160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ACBECE"/>
                </a:solidFill>
                <a:latin typeface="Aptos"/>
              </a:defRPr>
            </a:pPr>
            <a:r>
              <a:t>Demonstrate: database persistence → live filter changes → sales → RFM → marketing → import/export.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92240"/>
            <a:ext cx="11064240" cy="13716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3796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Jagjot Singh Passi  ·  2446571  ·  PCTE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3796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ACBEC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10058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ACBECE"/>
                </a:solidFill>
                <a:latin typeface="Aptos"/>
              </a:defRPr>
            </a:pPr>
            <a:r>
              <a:t>01   Meets the analytical scope of the faculty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0058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4F9"/>
                </a:solidFill>
                <a:latin typeface="Aptos"/>
              </a:defRPr>
            </a:pPr>
            <a:r>
              <a:t>02   Upgrades the existing Python prototype with persistent database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38144"/>
            <a:ext cx="10058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4F9"/>
                </a:solidFill>
                <a:latin typeface="Aptos"/>
              </a:defRPr>
            </a:pPr>
            <a:r>
              <a:t>03   Provides explicit KPI definitions and source-lineage disclosure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51376"/>
            <a:ext cx="10058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F0F4F9"/>
                </a:solidFill>
                <a:latin typeface="Aptos"/>
              </a:defRPr>
            </a:pPr>
            <a:r>
              <a:t>04   Ready for authorized real exports and future live-platform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DCAF69"/>
                </a:solidFill>
                <a:latin typeface="Aptos"/>
              </a:defRPr>
            </a:pPr>
            <a:r>
              <a:t>Thank you  •  Questions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